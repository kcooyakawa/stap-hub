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s" id="{3d9101ae-4ad9-352c-a816-d3e451c8fd1c}">
          <p14:sldIdLst>
            <p14:sldId id="256"/>
            <p14:sldId id="257"/>
            <p14:sldId id="258"/>
            <p14:sldId id="259"/>
            <p14:sldId id="260"/>
          </p14:sldIdLst>
        </p14:section>
        <p14:section name="Subcapas e statements" id="{93d25afb-86cb-ba7c-7271-2a0f14245551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nteúdo" id="{a92ff69e-7183-1ef0-c923-42a6470a9671}">
          <p14:sldIdLst>
            <p14:sldId id="267"/>
            <p14:sldId id="268"/>
            <p14:sldId id="269"/>
            <p14:sldId id="270"/>
            <p14:sldId id="271"/>
          </p14:sldIdLst>
        </p14:section>
        <p14:section name="Com imagem" id="{3b4b1876-5a5f-34f4-2ff3-27b99ba0d905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Gráficos" id="{5c7efa7f-2f78-da3c-c6ee-f6d2f7d03bc4}">
          <p14:sldIdLst>
            <p14:sldId id="278"/>
            <p14:sldId id="279"/>
            <p14:sldId id="280"/>
          </p14:sldIdLst>
        </p14:section>
        <p14:section name="Encerramento" id="{ab91c8ae-cc05-0de7-b3db-5d31964af309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Visitantes</c:v>
                </c:pt>
              </c:strCache>
            </c:strRef>
          </c:tx>
          <c:spPr>
            <a:solidFill>
              <a:srgbClr val="071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71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11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711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711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711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Dia 1</c:v>
                  </c:pt>
                  <c:pt idx="1">
                    <c:v>Dia 2</c:v>
                  </c:pt>
                  <c:pt idx="2">
                    <c:v>Dia 3</c:v>
                  </c:pt>
                  <c:pt idx="3">
                    <c:v>Dia 4</c:v>
                  </c:pt>
                  <c:pt idx="4">
                    <c:v>Dia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1850</c:v>
                </c:pt>
                <c:pt idx="2">
                  <c:v>2600</c:v>
                </c:pt>
                <c:pt idx="3">
                  <c:v>2100</c:v>
                </c:pt>
                <c:pt idx="4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71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9ED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71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350</c:v>
                </c:pt>
                <c:pt idx="2">
                  <c:v>400</c:v>
                </c:pt>
                <c:pt idx="3">
                  <c:v>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F4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71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280</c:v>
                </c:pt>
                <c:pt idx="1">
                  <c:v>390</c:v>
                </c:pt>
                <c:pt idx="2">
                  <c:v>460</c:v>
                </c:pt>
                <c:pt idx="3">
                  <c:v>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71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A465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7111F"/>
              </a:solidFill>
              <a:effectLst/>
            </c:spPr>
          </c:dPt>
          <c:dPt>
            <c:idx val="1"/>
            <c:bubble3D val="0"/>
            <c:spPr>
              <a:solidFill>
                <a:srgbClr val="1F4FA8"/>
              </a:solidFill>
              <a:effectLst/>
            </c:spPr>
          </c:dPt>
          <c:dPt>
            <c:idx val="2"/>
            <c:bubble3D val="0"/>
            <c:spPr>
              <a:solidFill>
                <a:srgbClr val="9ED0F0"/>
              </a:solidFill>
              <a:effectLst/>
            </c:spPr>
          </c:dPt>
          <c:dPt>
            <c:idx val="3"/>
            <c:bubble3D val="0"/>
            <c:spPr>
              <a:solidFill>
                <a:srgbClr val="D9C9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8F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8F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8F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8F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Cenografia</c:v>
                </c:pt>
                <c:pt idx="1">
                  <c:v>Produção</c:v>
                </c:pt>
                <c:pt idx="2">
                  <c:v>Tecnologia</c:v>
                </c:pt>
                <c:pt idx="3">
                  <c:v>Hospitalidade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3A465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465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A4656"/>
                </a:solidFill>
                <a:latin typeface="+mn-lt"/>
              </a:rPr>
              <a:t>Engajamento semanal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Engajamento</c:v>
                </c:pt>
              </c:strCache>
            </c:strRef>
          </c:tx>
          <c:spPr>
            <a:solidFill>
              <a:srgbClr val="1F4FA8"/>
            </a:solidFill>
            <a:ln w="31750" cap="flat">
              <a:solidFill>
                <a:srgbClr val="1F4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7111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4FA8"/>
              </a:solidFill>
              <a:ln w="9525" cap="flat">
                <a:solidFill>
                  <a:srgbClr val="1F4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2.8</c:v>
                </c:pt>
                <c:pt idx="2">
                  <c:v>3.4</c:v>
                </c:pt>
                <c:pt idx="3">
                  <c:v>3.1</c:v>
                </c:pt>
                <c:pt idx="4">
                  <c:v>4.2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7111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6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com foto. Duplique este slide para manter o véu navy que garante a leitura do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02-Capa-&#183;-Degrad&#234;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03-Capa-&#183;-Clara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04-Subcapa-&#183;-Degrad&#234;-profundo-image-2.jpe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05-Subcapa-&#183;-Entardecer-image-2.jpe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08-Statement-&#183;-Degrad&#234;-image-2.jpe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09-Statement-&#183;-Impacto-image-2.jpe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1-1.png"/><Relationship Id="rId2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2-1.png"/><Relationship Id="rId2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3-1.png"/><Relationship Id="rId2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21-Encerramento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apa · Imagem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Arraste a imagem de capa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CLIENTE · MÊS 2026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2743200"/>
            <a:ext cx="107899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5000"/>
              </a:lnSpc>
              <a:buNone/>
              <a:defRPr lang="en-US" sz="12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5000"/>
              </a:lnSpc>
              <a:buNone/>
            </a:pPr>
            <a:r>
              <a:rPr lang="en-US" sz="12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</a:t>
            </a:r>
            <a:endParaRPr lang="en-US" sz="1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76072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Subtítulo ou frase de apoio</a:t>
            </a:r>
            <a:endParaRPr lang="en-US" sz="1600" dirty="0"/>
          </a:p>
        </p:txBody>
      </p:sp>
      <p:pic>
        <p:nvPicPr>
          <p:cNvPr id="6" name="Image 0" descr="/home/claude/stap/img/logo-v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767" y="5742432"/>
            <a:ext cx="1097280" cy="4959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apa · Degradê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logo-v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12648"/>
            <a:ext cx="1188720" cy="5372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007047" y="704088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MÊS 2026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39496" y="1600200"/>
            <a:ext cx="114300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PALAVRA</a:t>
            </a:r>
            <a:endParaRPr lang="en-US" sz="220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612648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8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8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Frase de abertura.</a:t>
            </a:r>
            <a:endParaRPr lang="en-US" sz="8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12648" y="58978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Nome do cliente · Nome do projeto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Capa · Clar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log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12648"/>
            <a:ext cx="1188720" cy="5372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007047" y="704088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MÊS 2026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66928" y="1828800"/>
            <a:ext cx="1115568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2000"/>
              </a:lnSpc>
              <a:buNone/>
              <a:defRPr lang="en-US" sz="12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2000"/>
              </a:lnSpc>
              <a:buNone/>
            </a:pPr>
            <a:r>
              <a:rPr lang="en-US" sz="12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</a:t>
            </a:r>
            <a:endParaRPr lang="en-US" sz="1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Subtítulo ou frase de apoio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b Capa · Editorial clara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-2651760"/>
            <a:ext cx="10972800" cy="1097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82000" i="1" spc="-60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82000" i="1" spc="-60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</a:t>
            </a:r>
            <a:endParaRPr lang="en-US" sz="8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50292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0000"/>
              </a:lnSpc>
              <a:buNone/>
              <a:def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TÍTULO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0" y="3566160"/>
            <a:ext cx="54864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80000"/>
              </a:lnSpc>
              <a:buNone/>
              <a:def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APOIO</a:t>
            </a:r>
            <a:endParaRPr lang="en-US" sz="11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25780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90000"/>
              </a:lnSpc>
              <a:buNone/>
              <a:defRPr lang="en-US" sz="2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 AO REAL</a:t>
            </a:r>
            <a:endParaRPr lang="en-US" sz="2600" dirty="0"/>
          </a:p>
        </p:txBody>
      </p:sp>
      <p:pic>
        <p:nvPicPr>
          <p:cNvPr id="6" name="Image 0" descr="/home/claude/stap/img/log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5788152"/>
            <a:ext cx="1005840" cy="4546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c Capa · Editorial azul">
    <p:bg>
      <p:bgPr>
        <a:solidFill>
          <a:srgbClr val="1F4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-2651760"/>
            <a:ext cx="10972800" cy="1097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82000" i="1" spc="-6000" kern="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82000" i="1" spc="-6000" kern="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</a:t>
            </a:r>
            <a:endParaRPr lang="en-US" sz="8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50292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0000"/>
              </a:lnSpc>
              <a:buNone/>
              <a:def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TÍTULO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0" y="3566160"/>
            <a:ext cx="54864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80000"/>
              </a:lnSpc>
              <a:buNone/>
              <a:def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APOIO</a:t>
            </a:r>
            <a:endParaRPr lang="en-US" sz="11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25780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90000"/>
              </a:lnSpc>
              <a:buNone/>
              <a:defRPr lang="en-US" sz="2600" dirty="0">
                <a:solidFill>
                  <a:schemeClr val="bg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bg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 AO REAL</a:t>
            </a:r>
            <a:endParaRPr lang="en-US" sz="2600" dirty="0"/>
          </a:p>
        </p:txBody>
      </p:sp>
      <p:pic>
        <p:nvPicPr>
          <p:cNvPr id="6" name="Image 0" descr="/home/claude/stap/img/logo-v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5788152"/>
            <a:ext cx="1005840" cy="4546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Subcapa · Degradê profun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548640"/>
            <a:ext cx="64008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429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da seção</a:t>
            </a:r>
            <a:endParaRPr lang="en-US" sz="9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Frase curta que apresenta o capítulo</a:t>
            </a:r>
            <a:endParaRPr lang="en-US" sz="1600" dirty="0"/>
          </a:p>
        </p:txBody>
      </p:sp>
      <p:pic>
        <p:nvPicPr>
          <p:cNvPr id="5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Subcapa · Entardec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548640"/>
            <a:ext cx="64008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429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da seção</a:t>
            </a:r>
            <a:endParaRPr lang="en-US" sz="9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Frase curta que apresenta o capítulo</a:t>
            </a:r>
            <a:endParaRPr lang="en-US" sz="1600" dirty="0"/>
          </a:p>
        </p:txBody>
      </p:sp>
      <p:pic>
        <p:nvPicPr>
          <p:cNvPr id="5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Subcapa · Clara editorial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60720" y="-502920"/>
            <a:ext cx="6949440" cy="6583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48000" i="1" spc="-36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48000" i="1" spc="-36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4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291840"/>
            <a:ext cx="64008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10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10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da seção</a:t>
            </a:r>
            <a:endParaRPr lang="en-US" sz="10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Frase curta que apresenta o capítulo</a:t>
            </a:r>
            <a:endParaRPr lang="en-US" sz="1600" dirty="0"/>
          </a:p>
        </p:txBody>
      </p:sp>
      <p:pic>
        <p:nvPicPr>
          <p:cNvPr id="5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Subcapa · Imagem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Arraste uma imagem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502920"/>
            <a:ext cx="50292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01</a:t>
            </a:r>
            <a:endParaRPr lang="en-US" sz="23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3886200"/>
            <a:ext cx="5029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7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7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da seção</a:t>
            </a:r>
            <a:endParaRPr lang="en-US" sz="7600" dirty="0"/>
          </a:p>
        </p:txBody>
      </p:sp>
      <p:pic>
        <p:nvPicPr>
          <p:cNvPr id="5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Statement · Degradê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NOSSA LEITURA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1188720"/>
            <a:ext cx="1115568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4000"/>
              </a:lnSpc>
              <a:buNone/>
              <a:def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4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frase forte.</a:t>
            </a:r>
            <a:endParaRPr lang="en-US" sz="9600" dirty="0"/>
          </a:p>
        </p:txBody>
      </p:sp>
      <p:pic>
        <p:nvPicPr>
          <p:cNvPr id="4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Statement · Impac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" y="13716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</a:t>
            </a:r>
            <a:endParaRPr lang="en-US" sz="1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463040"/>
            <a:ext cx="1143000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55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55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</a:t>
            </a:r>
            <a:endParaRPr lang="en-US" sz="255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21208" y="4389120"/>
            <a:ext cx="6400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1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595360" y="5257800"/>
            <a:ext cx="2983687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B4C3D3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B4C3D3"/>
                </a:solidFill>
              </a:rPr>
              <a:t>Frase de apoio</a:t>
            </a:r>
            <a:endParaRPr lang="en-US" sz="1400" dirty="0"/>
          </a:p>
        </p:txBody>
      </p:sp>
      <p:pic>
        <p:nvPicPr>
          <p:cNvPr id="6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ítulo + texto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143000"/>
            <a:ext cx="694944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6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955280" y="1234440"/>
            <a:ext cx="3623767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Texto corrido.</a:t>
            </a:r>
            <a:endParaRPr lang="en-US" sz="1500" dirty="0"/>
          </a:p>
        </p:txBody>
      </p:sp>
      <p:pic>
        <p:nvPicPr>
          <p:cNvPr id="5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ítulo + duas colunas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972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6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108960"/>
            <a:ext cx="51206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Coluna 1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90488" y="3108960"/>
            <a:ext cx="51206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Coluna 2</a:t>
            </a:r>
            <a:endParaRPr lang="en-US" sz="1500" dirty="0"/>
          </a:p>
        </p:txBody>
      </p:sp>
      <p:pic>
        <p:nvPicPr>
          <p:cNvPr id="6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ase · Texto + imagem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6309360" y="0"/>
            <a:ext cx="5882335" cy="6035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Arraste uma imagem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6072" y="105156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1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CLIENTE</a:t>
            </a:r>
            <a:endParaRPr lang="en-US" sz="130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612648" y="278892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4400" i="1" dirty="0">
                <a:solidFill>
                  <a:schemeClr val="accent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4400" i="1" dirty="0">
                <a:solidFill>
                  <a:schemeClr val="accent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do projeto</a:t>
            </a:r>
            <a:endParaRPr lang="en-US" sz="4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12648" y="388620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Texto de apoio</a:t>
            </a:r>
            <a:endParaRPr lang="en-US" sz="1500" dirty="0"/>
          </a:p>
        </p:txBody>
      </p:sp>
      <p:pic>
        <p:nvPicPr>
          <p:cNvPr id="7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9" name="Text 1"/>
          <p:cNvSpPr/>
          <p:nvPr>
            <p:ph idx="107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Imagem cheia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Arraste uma imagem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657600"/>
            <a:ext cx="100584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defRPr>
            </a:lvl1pPr>
          </a:lstStyle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CLIENTE</a:t>
            </a:r>
            <a:endParaRPr lang="en-US" sz="2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PROJETO · EVENTO · ANO</a:t>
            </a:r>
            <a:endParaRPr lang="en-US" sz="1100" dirty="0"/>
          </a:p>
        </p:txBody>
      </p:sp>
      <p:pic>
        <p:nvPicPr>
          <p:cNvPr id="5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327" y="6291072"/>
            <a:ext cx="1188720" cy="302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Duas imagens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12648" y="2148840"/>
            <a:ext cx="534924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Imagem 1</a:t>
            </a:r>
            <a:endParaRPr lang="en-US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6236208" y="2148840"/>
            <a:ext cx="534924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Imagem 2</a:t>
            </a:r>
            <a:endParaRPr lang="en-US" dirty="0"/>
          </a:p>
        </p:txBody>
      </p:sp>
      <p:pic>
        <p:nvPicPr>
          <p:cNvPr id="6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rês imagens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12648" y="2148840"/>
            <a:ext cx="347472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Imagem 1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Legenda 1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hasCustomPrompt="1"/>
          </p:nvPr>
        </p:nvSpPr>
        <p:spPr>
          <a:xfrm>
            <a:off x="4361688" y="2148840"/>
            <a:ext cx="347472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Imagem 2</a:t>
            </a:r>
            <a:endParaRPr lang="en-US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4361688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Legenda 2</a:t>
            </a:r>
            <a:endParaRPr lang="en-US" sz="1200" dirty="0"/>
          </a:p>
        </p:txBody>
      </p:sp>
      <p:sp>
        <p:nvSpPr>
          <p:cNvPr id="8" name="Text 0"/>
          <p:cNvSpPr/>
          <p:nvPr>
            <p:ph idx="106" hasCustomPrompt="1"/>
          </p:nvPr>
        </p:nvSpPr>
        <p:spPr>
          <a:xfrm>
            <a:off x="8110728" y="2148840"/>
            <a:ext cx="347472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Imagem 3</a:t>
            </a:r>
            <a:endParaRPr lang="en-US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8110728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Legenda 3</a:t>
            </a:r>
            <a:endParaRPr lang="en-US" sz="1200" dirty="0"/>
          </a:p>
        </p:txBody>
      </p:sp>
      <p:pic>
        <p:nvPicPr>
          <p:cNvPr id="10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12" name="Text 1"/>
          <p:cNvSpPr/>
          <p:nvPr>
            <p:ph idx="110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Render × Real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</a:t>
            </a:r>
            <a:endParaRPr lang="en-US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Foto real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Gráfico + comentário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97280"/>
            <a:ext cx="39319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56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56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gráfico</a:t>
            </a: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657600"/>
            <a:ext cx="3657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 leitura do dado em uma frase.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chart" hasCustomPrompt="1"/>
          </p:nvPr>
        </p:nvSpPr>
        <p:spPr>
          <a:xfrm>
            <a:off x="4937760" y="1097280"/>
            <a:ext cx="6641287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 Números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515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6400" dirty="0"/>
          </a:p>
        </p:txBody>
      </p:sp>
      <p:pic>
        <p:nvPicPr>
          <p:cNvPr id="4" name="Image 0" descr="/home/claude/stap/img/logo-h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1021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 Título simples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NOME DA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515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 do slide</a:t>
            </a:r>
            <a:endParaRPr lang="en-US" sz="6000" dirty="0"/>
          </a:p>
        </p:txBody>
      </p:sp>
      <p:pic>
        <p:nvPicPr>
          <p:cNvPr id="4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1022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 Citação">
    <p:bg>
      <p:bgPr>
        <a:solidFill>
          <a:srgbClr val="9ED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21208" y="182880"/>
            <a:ext cx="27432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3000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3000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30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2011680"/>
            <a:ext cx="1060704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000" i="1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r>
              <a:rPr lang="en-US" sz="6000" i="1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frase marcante.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49834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4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100" spc="400" kern="0" dirty="0">
                <a:solidFill>
                  <a:schemeClr val="tx1"/>
                </a:solidFill>
              </a:rPr>
              <a:t>NOME SOBRENOME · CARGO, EMPRESA</a:t>
            </a:r>
            <a:endParaRPr lang="en-US" sz="1100" dirty="0"/>
          </a:p>
        </p:txBody>
      </p:sp>
      <p:pic>
        <p:nvPicPr>
          <p:cNvPr id="5" name="Image 0" descr="/home/claude/stap/img/logo-h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355080"/>
            <a:ext cx="1005840" cy="25591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612648" y="6199632"/>
            <a:ext cx="10966399" cy="0"/>
          </a:xfrm>
          <a:prstGeom prst="line">
            <a:avLst/>
          </a:prstGeom>
          <a:noFill/>
          <a:ln w="9525">
            <a:solidFill>
              <a:srgbClr val="C9C4BB"/>
            </a:solidFill>
            <a:prstDash val="solid"/>
          </a:ln>
        </p:spPr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1023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 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logo-v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612648"/>
            <a:ext cx="1188720" cy="5372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1737360"/>
            <a:ext cx="111556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0000"/>
              </a:lnSpc>
              <a:buNone/>
              <a:defRPr lang="en-US" sz="1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lnSpc>
                <a:spcPct val="80000"/>
              </a:lnSpc>
              <a:buNone/>
            </a:pPr>
            <a:r>
              <a:rPr lang="en-US" sz="1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Obrigado.</a:t>
            </a:r>
            <a:endParaRPr lang="en-US" sz="1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5778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contato@stap.com.br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slideLayout" Target="../slideLayouts/slideLayout18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ford-real_13.33x7.50_centre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u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45000"/>
            </a:srgbClr>
          </a:solidFill>
          <a:ln/>
        </p:spPr>
      </p:sp>
      <p:sp>
        <p:nvSpPr>
          <p:cNvPr id="4" name="veu"/>
          <p:cNvSpPr/>
          <p:nvPr/>
        </p:nvSpPr>
        <p:spPr>
          <a:xfrm>
            <a:off x="0" y="3108960"/>
            <a:ext cx="12191695" cy="3749040"/>
          </a:xfrm>
          <a:prstGeom prst="rect">
            <a:avLst/>
          </a:prstGeom>
          <a:solidFill>
            <a:srgbClr val="07111F">
              <a:alpha val="55000"/>
            </a:srgbClr>
          </a:solidFill>
          <a:ln/>
        </p:spPr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FORD · OUTUBRO 2026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title" hasCustomPrompt="1"/>
          </p:nvPr>
        </p:nvSpPr>
        <p:spPr>
          <a:xfrm>
            <a:off x="612648" y="274320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2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Sentimentos </a:t>
            </a:r>
            <a:pPr algn="l" indent="0" marL="0">
              <a:lnSpc>
                <a:spcPct val="85000"/>
              </a:lnSpc>
              <a:buNone/>
            </a:pPr>
            <a:r>
              <a:rPr lang="en-US" sz="12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 constroem.</a:t>
            </a:r>
            <a:endParaRPr lang="en-US" sz="120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612648" y="5760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Proposta de experiência · Nome do projeto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007047" y="704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OUTUBRO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39496" y="1600200"/>
            <a:ext cx="11430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FEELINGS</a:t>
            </a:r>
            <a:endParaRPr lang="en-US" sz="22000" dirty="0"/>
          </a:p>
        </p:txBody>
      </p:sp>
      <p:sp>
        <p:nvSpPr>
          <p:cNvPr id="4" name="Text 0"/>
          <p:cNvSpPr/>
          <p:nvPr>
            <p:ph idx="103" type="title" hasCustomPrompt="1"/>
          </p:nvPr>
        </p:nvSpPr>
        <p:spPr>
          <a:xfrm>
            <a:off x="612648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Sentimentos se constroem.</a:t>
            </a:r>
            <a:endParaRPr lang="en-US" sz="8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612648" y="5897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Nome do cliente · Nome do projeto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007047" y="704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· OUTUBRO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66928" y="182880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2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Nome do</a:t>
            </a:r>
            <a:endParaRPr lang="en-US" sz="12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124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projeto.</a:t>
            </a:r>
            <a:endParaRPr lang="en-US" sz="12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12648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Proposta comercial para Nome do cliente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-2651760"/>
            <a:ext cx="10972800" cy="109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2000" i="1" spc="-60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60</a:t>
            </a:r>
            <a:endParaRPr lang="en-US" sz="8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5029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MONTA</a:t>
            </a:r>
            <a:endParaRPr lang="en-US" sz="11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GEM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0" y="35661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SEGUN</a:t>
            </a:r>
            <a:endParaRPr lang="en-US" sz="11000" dirty="0"/>
          </a:p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DOS</a:t>
            </a:r>
            <a:endParaRPr lang="en-US" sz="11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257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</a:t>
            </a:r>
            <a:endParaRPr lang="en-US" sz="2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AO REAL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2377440" y="-2651760"/>
            <a:ext cx="10972800" cy="109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2000" i="1" spc="-6000" kern="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60</a:t>
            </a:r>
            <a:endParaRPr lang="en-US" sz="8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5029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MONTA</a:t>
            </a:r>
            <a:endParaRPr lang="en-US" sz="11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GEM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0" y="35661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SEGUN</a:t>
            </a:r>
            <a:endParaRPr lang="en-US" sz="11000" dirty="0"/>
          </a:p>
          <a:p>
            <a:pPr indent="0" marL="0">
              <a:lnSpc>
                <a:spcPct val="80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DOS</a:t>
            </a:r>
            <a:endParaRPr lang="en-US" sz="11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5257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bg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</a:t>
            </a:r>
            <a:endParaRPr lang="en-US" sz="2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bg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AO REAL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548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429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desafio</a:t>
            </a:r>
            <a:endParaRPr lang="en-US" sz="9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Frase curta que apresenta o capítulo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548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429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Nossa leitura</a:t>
            </a:r>
            <a:endParaRPr lang="en-US" sz="9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Frase curta que apresenta o capítulo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60720" y="-502920"/>
            <a:ext cx="6949440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48000" i="1" spc="-3600" kern="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4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3291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conceito</a:t>
            </a:r>
            <a:endParaRPr lang="en-US" sz="10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Frase curta que apresenta o capítulo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grunner-real-v_6.67x7.50_centre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5029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04</a:t>
            </a:r>
            <a:endParaRPr lang="en-US" sz="23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38862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7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projeto </a:t>
            </a:r>
            <a:endParaRPr lang="en-US" sz="7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76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 obra</a:t>
            </a:r>
            <a:endParaRPr lang="en-US" sz="7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NOSSA LEITURA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1188720"/>
            <a:ext cx="11155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Não basta chamar atenção. </a:t>
            </a:r>
            <a:pPr algn="l" indent="0" marL="0">
              <a:lnSpc>
                <a:spcPct val="84000"/>
              </a:lnSpc>
              <a:buNone/>
            </a:pPr>
            <a:r>
              <a:rPr lang="en-US" sz="96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É preciso fazer ficar.</a:t>
            </a:r>
            <a:endParaRPr lang="en-US" sz="9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" y="1371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</a:t>
            </a:r>
            <a:endParaRPr lang="en-US" sz="1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463040"/>
            <a:ext cx="11430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</a:t>
            </a:r>
            <a:endParaRPr lang="en-US" sz="255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21208" y="43891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3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1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595360" y="5257800"/>
            <a:ext cx="29836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C3D3"/>
                </a:solidFill>
              </a:rPr>
              <a:t>O que a gente desenha é o que você encontra no dia. Do traço ao estande montado, com o mesmo time.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 — QUEM SOMOS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1430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Quem desenha é </a:t>
            </a:r>
            <a:endParaRPr lang="en-US" sz="64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64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quem entrega.</a:t>
            </a:r>
            <a:endParaRPr lang="en-US" sz="6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955280" y="1234440"/>
            <a:ext cx="3623767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Criação, arquitetura e produção no mesmo time. O projeto sai do render e chega ao real sem trocar de mãos.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Use até três parágrafos curtos neste espaço.</a:t>
            </a:r>
            <a:endParaRPr lang="en-US" sz="15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 — O BRIEFING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97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o projeto </a:t>
            </a:r>
            <a:pPr algn="l" indent="0" marL="0">
              <a:lnSpc>
                <a:spcPct val="86000"/>
              </a:lnSpc>
              <a:buNone/>
            </a:pPr>
            <a:r>
              <a:rPr lang="en-US" sz="64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exige.</a:t>
            </a:r>
            <a:endParaRPr lang="en-US" sz="6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10896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spc="400" kern="0" dirty="0">
                <a:solidFill>
                  <a:schemeClr val="accent1"/>
                </a:solidFill>
              </a:rPr>
              <a:t>OBJETIVO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Descreva aqui o objetivo principal do cliente em duas ou três linhas.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90488" y="310896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spc="400" kern="0" dirty="0">
                <a:solidFill>
                  <a:schemeClr val="accent1"/>
                </a:solidFill>
              </a:rPr>
              <a:t>PÚBLICO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Descreva quem vai viver a experiência e o que precisa sentir.</a:t>
            </a:r>
            <a:endParaRPr lang="en-US" sz="15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 — EM NÚMEROS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Escala para </a:t>
            </a:r>
            <a:pPr algn="l" indent="0" marL="0">
              <a:lnSpc>
                <a:spcPct val="86000"/>
              </a:lnSpc>
              <a:buNone/>
            </a:pPr>
            <a:r>
              <a:rPr lang="en-US" sz="6400" i="1" dirty="0">
                <a:solidFill>
                  <a:schemeClr val="accent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entregar.</a:t>
            </a:r>
            <a:endParaRPr lang="en-US" sz="6400" dirty="0"/>
          </a:p>
        </p:txBody>
      </p:sp>
      <p:sp>
        <p:nvSpPr>
          <p:cNvPr id="4" name="fio0"/>
          <p:cNvSpPr/>
          <p:nvPr/>
        </p:nvSpPr>
        <p:spPr>
          <a:xfrm>
            <a:off x="612648" y="2651760"/>
            <a:ext cx="2514600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5" name="numero0"/>
          <p:cNvSpPr txBox="1"/>
          <p:nvPr/>
        </p:nvSpPr>
        <p:spPr>
          <a:xfrm>
            <a:off x="612648" y="27889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34</a:t>
            </a:r>
            <a:endParaRPr lang="en-US" sz="10000" dirty="0"/>
          </a:p>
        </p:txBody>
      </p:sp>
      <p:sp>
        <p:nvSpPr>
          <p:cNvPr id="6" name="rotulo0"/>
          <p:cNvSpPr txBox="1"/>
          <p:nvPr/>
        </p:nvSpPr>
        <p:spPr>
          <a:xfrm>
            <a:off x="612648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anos de história</a:t>
            </a:r>
            <a:endParaRPr lang="en-US" sz="2400" dirty="0"/>
          </a:p>
        </p:txBody>
      </p:sp>
      <p:sp>
        <p:nvSpPr>
          <p:cNvPr id="7" name="fio1"/>
          <p:cNvSpPr/>
          <p:nvPr/>
        </p:nvSpPr>
        <p:spPr>
          <a:xfrm>
            <a:off x="3355848" y="2651760"/>
            <a:ext cx="2514600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8" name="numero1"/>
          <p:cNvSpPr txBox="1"/>
          <p:nvPr/>
        </p:nvSpPr>
        <p:spPr>
          <a:xfrm>
            <a:off x="3355848" y="27889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+4.000</a:t>
            </a:r>
            <a:endParaRPr lang="en-US" sz="10000" dirty="0"/>
          </a:p>
        </p:txBody>
      </p:sp>
      <p:sp>
        <p:nvSpPr>
          <p:cNvPr id="9" name="rotulo1"/>
          <p:cNvSpPr txBox="1"/>
          <p:nvPr/>
        </p:nvSpPr>
        <p:spPr>
          <a:xfrm>
            <a:off x="3355848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projetos realizados</a:t>
            </a:r>
            <a:endParaRPr lang="en-US" sz="2400" dirty="0"/>
          </a:p>
        </p:txBody>
      </p:sp>
      <p:sp>
        <p:nvSpPr>
          <p:cNvPr id="10" name="fio2"/>
          <p:cNvSpPr/>
          <p:nvPr/>
        </p:nvSpPr>
        <p:spPr>
          <a:xfrm>
            <a:off x="6099048" y="2651760"/>
            <a:ext cx="2514600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11" name="numero2"/>
          <p:cNvSpPr txBox="1"/>
          <p:nvPr/>
        </p:nvSpPr>
        <p:spPr>
          <a:xfrm>
            <a:off x="6099048" y="27889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+250</a:t>
            </a:r>
            <a:endParaRPr lang="en-US" sz="10000" dirty="0"/>
          </a:p>
        </p:txBody>
      </p:sp>
      <p:sp>
        <p:nvSpPr>
          <p:cNvPr id="12" name="rotulo2"/>
          <p:cNvSpPr txBox="1"/>
          <p:nvPr/>
        </p:nvSpPr>
        <p:spPr>
          <a:xfrm>
            <a:off x="6099048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clientes atendidos</a:t>
            </a:r>
            <a:endParaRPr lang="en-US" sz="2400" dirty="0"/>
          </a:p>
        </p:txBody>
      </p:sp>
      <p:sp>
        <p:nvSpPr>
          <p:cNvPr id="13" name="fio3"/>
          <p:cNvSpPr/>
          <p:nvPr/>
        </p:nvSpPr>
        <p:spPr>
          <a:xfrm>
            <a:off x="8842248" y="2651760"/>
            <a:ext cx="2514600" cy="0"/>
          </a:xfrm>
          <a:prstGeom prst="line">
            <a:avLst/>
          </a:prstGeom>
          <a:noFill/>
          <a:ln w="9525">
            <a:solidFill>
              <a:srgbClr val="3B5576"/>
            </a:solidFill>
            <a:prstDash val="solid"/>
          </a:ln>
        </p:spPr>
      </p:sp>
      <p:sp>
        <p:nvSpPr>
          <p:cNvPr id="14" name="numero3"/>
          <p:cNvSpPr txBox="1"/>
          <p:nvPr/>
        </p:nvSpPr>
        <p:spPr>
          <a:xfrm>
            <a:off x="8842248" y="27889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+500</a:t>
            </a:r>
            <a:endParaRPr lang="en-US" sz="10000" dirty="0"/>
          </a:p>
        </p:txBody>
      </p:sp>
      <p:sp>
        <p:nvSpPr>
          <p:cNvPr id="15" name="rotulo3"/>
          <p:cNvSpPr txBox="1"/>
          <p:nvPr/>
        </p:nvSpPr>
        <p:spPr>
          <a:xfrm>
            <a:off x="8842248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estandes construídos</a:t>
            </a:r>
            <a:endParaRPr lang="en-US" sz="2400" dirty="0"/>
          </a:p>
        </p:txBody>
      </p:sp>
      <p:sp>
        <p:nvSpPr>
          <p:cNvPr id="16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04 — CRONOGRAMA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51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Etapas do </a:t>
            </a:r>
            <a:pPr algn="l" indent="0" marL="0">
              <a:lnSpc>
                <a:spcPct val="86000"/>
              </a:lnSpc>
              <a:buNone/>
            </a:pPr>
            <a:r>
              <a:rPr lang="en-US" sz="60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projeto.</a:t>
            </a:r>
            <a:endParaRPr lang="en-US" sz="6000" dirty="0"/>
          </a:p>
        </p:txBody>
      </p:sp>
      <p:sp>
        <p:nvSpPr>
          <p:cNvPr id="4" name="fio0"/>
          <p:cNvSpPr/>
          <p:nvPr/>
        </p:nvSpPr>
        <p:spPr>
          <a:xfrm>
            <a:off x="612648" y="2514600"/>
            <a:ext cx="2011680" cy="0"/>
          </a:xfrm>
          <a:prstGeom prst="line">
            <a:avLst/>
          </a:prstGeom>
          <a:noFill/>
          <a:ln w="9525">
            <a:solidFill>
              <a:srgbClr val="07111F"/>
            </a:solidFill>
            <a:prstDash val="solid"/>
          </a:ln>
        </p:spPr>
      </p:sp>
      <p:sp>
        <p:nvSpPr>
          <p:cNvPr id="5" name="etapa0"/>
          <p:cNvSpPr txBox="1"/>
          <p:nvPr/>
        </p:nvSpPr>
        <p:spPr>
          <a:xfrm>
            <a:off x="612648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itulo0"/>
          <p:cNvSpPr txBox="1"/>
          <p:nvPr/>
        </p:nvSpPr>
        <p:spPr>
          <a:xfrm>
            <a:off x="612648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Briefing</a:t>
            </a:r>
            <a:endParaRPr lang="en-US" sz="3000" dirty="0"/>
          </a:p>
        </p:txBody>
      </p:sp>
      <p:sp>
        <p:nvSpPr>
          <p:cNvPr id="7" name="desc0"/>
          <p:cNvSpPr txBox="1"/>
          <p:nvPr/>
        </p:nvSpPr>
        <p:spPr>
          <a:xfrm>
            <a:off x="612648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Leitura e imersão</a:t>
            </a:r>
            <a:endParaRPr lang="en-US" sz="1300" dirty="0"/>
          </a:p>
        </p:txBody>
      </p:sp>
      <p:sp>
        <p:nvSpPr>
          <p:cNvPr id="8" name="fio1"/>
          <p:cNvSpPr/>
          <p:nvPr/>
        </p:nvSpPr>
        <p:spPr>
          <a:xfrm>
            <a:off x="2807208" y="2514600"/>
            <a:ext cx="2011680" cy="0"/>
          </a:xfrm>
          <a:prstGeom prst="line">
            <a:avLst/>
          </a:prstGeom>
          <a:noFill/>
          <a:ln w="9525">
            <a:solidFill>
              <a:srgbClr val="07111F"/>
            </a:solidFill>
            <a:prstDash val="solid"/>
          </a:ln>
        </p:spPr>
      </p:sp>
      <p:sp>
        <p:nvSpPr>
          <p:cNvPr id="9" name="etapa1"/>
          <p:cNvSpPr txBox="1"/>
          <p:nvPr/>
        </p:nvSpPr>
        <p:spPr>
          <a:xfrm>
            <a:off x="2807208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02</a:t>
            </a:r>
            <a:endParaRPr lang="en-US" sz="9600" dirty="0"/>
          </a:p>
        </p:txBody>
      </p:sp>
      <p:sp>
        <p:nvSpPr>
          <p:cNvPr id="10" name="titulo1"/>
          <p:cNvSpPr txBox="1"/>
          <p:nvPr/>
        </p:nvSpPr>
        <p:spPr>
          <a:xfrm>
            <a:off x="2807208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Conceito</a:t>
            </a:r>
            <a:endParaRPr lang="en-US" sz="3000" dirty="0"/>
          </a:p>
        </p:txBody>
      </p:sp>
      <p:sp>
        <p:nvSpPr>
          <p:cNvPr id="11" name="desc1"/>
          <p:cNvSpPr txBox="1"/>
          <p:nvPr/>
        </p:nvSpPr>
        <p:spPr>
          <a:xfrm>
            <a:off x="2807208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Território e direção</a:t>
            </a:r>
            <a:endParaRPr lang="en-US" sz="1300" dirty="0"/>
          </a:p>
        </p:txBody>
      </p:sp>
      <p:sp>
        <p:nvSpPr>
          <p:cNvPr id="12" name="fio2"/>
          <p:cNvSpPr/>
          <p:nvPr/>
        </p:nvSpPr>
        <p:spPr>
          <a:xfrm>
            <a:off x="5001768" y="2514600"/>
            <a:ext cx="2011680" cy="0"/>
          </a:xfrm>
          <a:prstGeom prst="line">
            <a:avLst/>
          </a:prstGeom>
          <a:noFill/>
          <a:ln w="9525">
            <a:solidFill>
              <a:srgbClr val="07111F"/>
            </a:solidFill>
            <a:prstDash val="solid"/>
          </a:ln>
        </p:spPr>
      </p:sp>
      <p:sp>
        <p:nvSpPr>
          <p:cNvPr id="13" name="etapa2"/>
          <p:cNvSpPr txBox="1"/>
          <p:nvPr/>
        </p:nvSpPr>
        <p:spPr>
          <a:xfrm>
            <a:off x="5001768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03</a:t>
            </a:r>
            <a:endParaRPr lang="en-US" sz="9600" dirty="0"/>
          </a:p>
        </p:txBody>
      </p:sp>
      <p:sp>
        <p:nvSpPr>
          <p:cNvPr id="14" name="titulo2"/>
          <p:cNvSpPr txBox="1"/>
          <p:nvPr/>
        </p:nvSpPr>
        <p:spPr>
          <a:xfrm>
            <a:off x="5001768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</a:t>
            </a:r>
            <a:endParaRPr lang="en-US" sz="3000" dirty="0"/>
          </a:p>
        </p:txBody>
      </p:sp>
      <p:sp>
        <p:nvSpPr>
          <p:cNvPr id="15" name="desc2"/>
          <p:cNvSpPr txBox="1"/>
          <p:nvPr/>
        </p:nvSpPr>
        <p:spPr>
          <a:xfrm>
            <a:off x="5001768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Render e detalhamento</a:t>
            </a:r>
            <a:endParaRPr lang="en-US" sz="1300" dirty="0"/>
          </a:p>
        </p:txBody>
      </p:sp>
      <p:sp>
        <p:nvSpPr>
          <p:cNvPr id="16" name="fio3"/>
          <p:cNvSpPr/>
          <p:nvPr/>
        </p:nvSpPr>
        <p:spPr>
          <a:xfrm>
            <a:off x="7196328" y="2514600"/>
            <a:ext cx="2011680" cy="0"/>
          </a:xfrm>
          <a:prstGeom prst="line">
            <a:avLst/>
          </a:prstGeom>
          <a:noFill/>
          <a:ln w="9525">
            <a:solidFill>
              <a:srgbClr val="07111F"/>
            </a:solidFill>
            <a:prstDash val="solid"/>
          </a:ln>
        </p:spPr>
      </p:sp>
      <p:sp>
        <p:nvSpPr>
          <p:cNvPr id="17" name="etapa3"/>
          <p:cNvSpPr txBox="1"/>
          <p:nvPr/>
        </p:nvSpPr>
        <p:spPr>
          <a:xfrm>
            <a:off x="7196328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04</a:t>
            </a:r>
            <a:endParaRPr lang="en-US" sz="9600" dirty="0"/>
          </a:p>
        </p:txBody>
      </p:sp>
      <p:sp>
        <p:nvSpPr>
          <p:cNvPr id="18" name="titulo3"/>
          <p:cNvSpPr txBox="1"/>
          <p:nvPr/>
        </p:nvSpPr>
        <p:spPr>
          <a:xfrm>
            <a:off x="7196328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Produção</a:t>
            </a:r>
            <a:endParaRPr lang="en-US" sz="3000" dirty="0"/>
          </a:p>
        </p:txBody>
      </p:sp>
      <p:sp>
        <p:nvSpPr>
          <p:cNvPr id="19" name="desc3"/>
          <p:cNvSpPr txBox="1"/>
          <p:nvPr/>
        </p:nvSpPr>
        <p:spPr>
          <a:xfrm>
            <a:off x="7196328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Fábrica e montagem</a:t>
            </a:r>
            <a:endParaRPr lang="en-US" sz="1300" dirty="0"/>
          </a:p>
        </p:txBody>
      </p:sp>
      <p:sp>
        <p:nvSpPr>
          <p:cNvPr id="20" name="fio4"/>
          <p:cNvSpPr/>
          <p:nvPr/>
        </p:nvSpPr>
        <p:spPr>
          <a:xfrm>
            <a:off x="9390888" y="2514600"/>
            <a:ext cx="2011680" cy="0"/>
          </a:xfrm>
          <a:prstGeom prst="line">
            <a:avLst/>
          </a:prstGeom>
          <a:noFill/>
          <a:ln w="9525">
            <a:solidFill>
              <a:srgbClr val="07111F"/>
            </a:solidFill>
            <a:prstDash val="solid"/>
          </a:ln>
        </p:spPr>
      </p:sp>
      <p:sp>
        <p:nvSpPr>
          <p:cNvPr id="21" name="etapa4"/>
          <p:cNvSpPr txBox="1"/>
          <p:nvPr/>
        </p:nvSpPr>
        <p:spPr>
          <a:xfrm>
            <a:off x="9390888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05</a:t>
            </a:r>
            <a:endParaRPr lang="en-US" sz="9600" dirty="0"/>
          </a:p>
        </p:txBody>
      </p:sp>
      <p:sp>
        <p:nvSpPr>
          <p:cNvPr id="22" name="titulo4"/>
          <p:cNvSpPr txBox="1"/>
          <p:nvPr/>
        </p:nvSpPr>
        <p:spPr>
          <a:xfrm>
            <a:off x="9390888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Entrega</a:t>
            </a:r>
            <a:endParaRPr lang="en-US" sz="3000" dirty="0"/>
          </a:p>
        </p:txBody>
      </p:sp>
      <p:sp>
        <p:nvSpPr>
          <p:cNvPr id="23" name="desc4"/>
          <p:cNvSpPr txBox="1"/>
          <p:nvPr/>
        </p:nvSpPr>
        <p:spPr>
          <a:xfrm>
            <a:off x="9390888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Operação no evento</a:t>
            </a:r>
            <a:endParaRPr lang="en-US" sz="1300" dirty="0"/>
          </a:p>
        </p:txBody>
      </p:sp>
      <p:sp>
        <p:nvSpPr>
          <p:cNvPr id="24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21208" y="1828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0000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30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201168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000" i="1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Stap entendeu o que a gente queria sentir antes de desenhar uma linha.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4983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1"/>
                </a:solidFill>
              </a:rPr>
              <a:t>NOME SOBRENOME · CARGO, EMPRESA</a:t>
            </a:r>
            <a:endParaRPr lang="en-US" sz="11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grunner-real_6.43x6.60_centre.jp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035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05 — CASE · AGRISHOW 2024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6072" y="10515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130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612648" y="2788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4400" i="1" dirty="0">
                <a:solidFill>
                  <a:schemeClr val="accent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Agrishow 2024</a:t>
            </a:r>
            <a:endParaRPr lang="en-US" sz="4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12648" y="3886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Estande com cenografia em madeira, área de relacionamento e exposição de máquinas. Troque a foto clicando com o botão direito › Alterar imagem.</a:t>
            </a:r>
            <a:endParaRPr lang="en-US" sz="1500" dirty="0"/>
          </a:p>
        </p:txBody>
      </p:sp>
      <p:sp>
        <p:nvSpPr>
          <p:cNvPr id="7" name="Text 1"/>
          <p:cNvSpPr/>
          <p:nvPr>
            <p:ph idx="107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ford-real_13.33x7.50_centre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u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7111F">
              <a:alpha val="75000"/>
            </a:srgbClr>
          </a:solidFill>
          <a:ln/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66928" y="365760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22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61264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CIRCUITO AGRO · ESTANDE · 2026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06 — REFERÊNCIAS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Duas imagens </a:t>
            </a:r>
            <a:pPr algn="l" indent="0" marL="0">
              <a:lnSpc>
                <a:spcPct val="86000"/>
              </a:lnSpc>
              <a:buNone/>
            </a:pPr>
            <a:r>
              <a:rPr lang="en-US" sz="48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lado a lado.</a:t>
            </a:r>
            <a:endParaRPr lang="en-US" sz="4800" dirty="0"/>
          </a:p>
        </p:txBody>
      </p:sp>
      <p:pic>
        <p:nvPicPr>
          <p:cNvPr id="4" name="Image 0" descr="/home/claude/stap/img/c/grunner-real_5.85x3.85_centre.jp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612648" y="2148840"/>
            <a:ext cx="5349240" cy="3520440"/>
          </a:xfrm>
          <a:prstGeom prst="rect">
            <a:avLst/>
          </a:prstGeom>
        </p:spPr>
      </p:pic>
      <p:pic>
        <p:nvPicPr>
          <p:cNvPr id="5" name="Image 1" descr="/home/claude/stap/img/c/corteva-gafff-1_5.85x3.85_centre.jpg">    </p:cNvPr>
          <p:cNvPicPr>
            <a:picLocks noChangeAspect="1"/>
          </p:cNvPicPr>
          <p:nvPr>
            <p:ph idx="103" hasCustomPrompt="1"/>
          </p:nvPr>
        </p:nvPicPr>
        <p:blipFill>
          <a:blip r:embed="rId2"/>
          <a:stretch>
            <a:fillRect/>
          </a:stretch>
        </p:blipFill>
        <p:spPr>
          <a:xfrm>
            <a:off x="6236208" y="2148840"/>
            <a:ext cx="5349240" cy="352044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07 — CASES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seleção do que </a:t>
            </a:r>
            <a:pPr algn="l" indent="0" marL="0">
              <a:lnSpc>
                <a:spcPct val="86000"/>
              </a:lnSpc>
              <a:buNone/>
            </a:pPr>
            <a:r>
              <a:rPr lang="en-US" sz="48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já entregamos.</a:t>
            </a:r>
            <a:endParaRPr lang="en-US" sz="4800" dirty="0"/>
          </a:p>
        </p:txBody>
      </p:sp>
      <p:pic>
        <p:nvPicPr>
          <p:cNvPr id="4" name="Image 0" descr="/home/claude/stap/img/c/ford-circuito-1_3.80x2.70_centre.jp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612648" y="2148840"/>
            <a:ext cx="3474720" cy="2468880"/>
          </a:xfrm>
          <a:prstGeom prst="rect">
            <a:avLst/>
          </a:prstGeom>
        </p:spPr>
      </p:pic>
      <p:pic>
        <p:nvPicPr>
          <p:cNvPr id="5" name="Image 1" descr="/home/claude/stap/img/c/toyota-hilux-1_3.80x2.70_centre.jpg">    </p:cNvPr>
          <p:cNvPicPr>
            <a:picLocks noChangeAspect="1"/>
          </p:cNvPicPr>
          <p:nvPr>
            <p:ph idx="104" hasCustomPrompt="1"/>
          </p:nvPr>
        </p:nvPicPr>
        <p:blipFill>
          <a:blip r:embed="rId2"/>
          <a:stretch>
            <a:fillRect/>
          </a:stretch>
        </p:blipFill>
        <p:spPr>
          <a:xfrm>
            <a:off x="4361688" y="2148840"/>
            <a:ext cx="3474720" cy="2468880"/>
          </a:xfrm>
          <a:prstGeom prst="rect">
            <a:avLst/>
          </a:prstGeom>
        </p:spPr>
      </p:pic>
      <p:pic>
        <p:nvPicPr>
          <p:cNvPr id="6" name="Image 2" descr="/home/claude/stap/img/c/vw-festival-1_3.80x2.70_centre.jpg">    </p:cNvPr>
          <p:cNvPicPr>
            <a:picLocks noChangeAspect="1"/>
          </p:cNvPicPr>
          <p:nvPr>
            <p:ph idx="106" hasCustomPrompt="1"/>
          </p:nvPr>
        </p:nvPicPr>
        <p:blipFill>
          <a:blip r:embed="rId3"/>
          <a:stretch>
            <a:fillRect/>
          </a:stretch>
        </p:blipFill>
        <p:spPr>
          <a:xfrm>
            <a:off x="8110728" y="2148840"/>
            <a:ext cx="3474720" cy="246888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3" type="body" hasCustomPrompt="1"/>
          </p:nvPr>
        </p:nvSpPr>
        <p:spPr>
          <a:xfrm>
            <a:off x="612648" y="4754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Circuito Agro · estande</a:t>
            </a:r>
            <a:endParaRPr lang="en-US" sz="1200" dirty="0"/>
          </a:p>
        </p:txBody>
      </p:sp>
      <p:sp>
        <p:nvSpPr>
          <p:cNvPr id="8" name="Text 0"/>
          <p:cNvSpPr/>
          <p:nvPr>
            <p:ph idx="105" type="body" hasCustomPrompt="1"/>
          </p:nvPr>
        </p:nvSpPr>
        <p:spPr>
          <a:xfrm>
            <a:off x="4361688" y="4754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Hilux · lançamento</a:t>
            </a:r>
            <a:endParaRPr lang="en-US" sz="12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8110728" y="4754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Festival · ativação</a:t>
            </a:r>
            <a:endParaRPr lang="en-US" sz="1200" dirty="0"/>
          </a:p>
        </p:txBody>
      </p:sp>
      <p:sp>
        <p:nvSpPr>
          <p:cNvPr id="10" name="Text 1"/>
          <p:cNvSpPr/>
          <p:nvPr>
            <p:ph idx="110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ford-render_6.67x7.50_right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pic>
        <p:nvPicPr>
          <p:cNvPr id="3" name="Image 1" descr="/home/claude/stap/img/c/ford-real_6.67x7.50_right.jpg">    </p:cNvPr>
          <p:cNvPicPr>
            <a:picLocks noChangeAspect="1"/>
          </p:cNvPicPr>
          <p:nvPr>
            <p:ph idx="101" hasCustomPrompt="1"/>
          </p:nvPr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4" name="veu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7111F">
              <a:alpha val="75000"/>
            </a:srgbClr>
          </a:solidFill>
          <a:ln/>
        </p:spPr>
      </p:sp>
      <p:sp>
        <p:nvSpPr>
          <p:cNvPr id="5" name="tag-render"/>
          <p:cNvSpPr txBox="1"/>
          <p:nvPr/>
        </p:nvSpPr>
        <p:spPr>
          <a:xfrm>
            <a:off x="612648" y="612648"/>
            <a:ext cx="1371600" cy="365760"/>
          </a:xfrm>
          <a:prstGeom prst="rect">
            <a:avLst/>
          </a:prstGeom>
          <a:solidFill>
            <a:srgbClr val="EEE9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tx1"/>
                </a:solidFill>
              </a:rPr>
              <a:t>RENDER</a:t>
            </a:r>
            <a:endParaRPr lang="en-US" sz="1100" dirty="0"/>
          </a:p>
        </p:txBody>
      </p:sp>
      <p:sp>
        <p:nvSpPr>
          <p:cNvPr id="6" name="tag-real"/>
          <p:cNvSpPr txBox="1"/>
          <p:nvPr/>
        </p:nvSpPr>
        <p:spPr>
          <a:xfrm>
            <a:off x="6370168" y="612648"/>
            <a:ext cx="1097280" cy="365760"/>
          </a:xfrm>
          <a:prstGeom prst="rect">
            <a:avLst/>
          </a:prstGeom>
          <a:solidFill>
            <a:srgbClr val="1F4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REAL</a:t>
            </a:r>
            <a:endParaRPr lang="en-US" sz="1100" dirty="0"/>
          </a:p>
        </p:txBody>
      </p:sp>
      <p:sp>
        <p:nvSpPr>
          <p:cNvPr id="7" name="cliente"/>
          <p:cNvSpPr txBox="1"/>
          <p:nvPr/>
        </p:nvSpPr>
        <p:spPr>
          <a:xfrm>
            <a:off x="566928" y="4983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12000" dirty="0"/>
          </a:p>
        </p:txBody>
      </p:sp>
      <p:sp>
        <p:nvSpPr>
          <p:cNvPr id="8" name="frase"/>
          <p:cNvSpPr txBox="1"/>
          <p:nvPr/>
        </p:nvSpPr>
        <p:spPr>
          <a:xfrm>
            <a:off x="6675120" y="5074920"/>
            <a:ext cx="49039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 render </a:t>
            </a:r>
            <a:endParaRPr lang="en-US" sz="4800" dirty="0"/>
          </a:p>
          <a:p>
            <a:pPr algn="r" indent="0" marL="0">
              <a:buNone/>
            </a:pPr>
            <a:r>
              <a:rPr lang="en-US" sz="48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4800" dirty="0"/>
          </a:p>
        </p:txBody>
      </p:sp>
      <p:sp>
        <p:nvSpPr>
          <p:cNvPr id="9" name="evento"/>
          <p:cNvSpPr txBox="1"/>
          <p:nvPr/>
        </p:nvSpPr>
        <p:spPr>
          <a:xfrm>
            <a:off x="61264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CIRCUITO AGRO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ap/img/c/grunner-render_6.67x7.50_centre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pic>
        <p:nvPicPr>
          <p:cNvPr id="3" name="Image 1" descr="/home/claude/stap/img/c/grunner-real_6.67x7.50_centre.jpg">    </p:cNvPr>
          <p:cNvPicPr>
            <a:picLocks noChangeAspect="1"/>
          </p:cNvPicPr>
          <p:nvPr>
            <p:ph idx="101" hasCustomPrompt="1"/>
          </p:nvPr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4" name="veu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7111F">
              <a:alpha val="75000"/>
            </a:srgbClr>
          </a:solidFill>
          <a:ln/>
        </p:spPr>
      </p:sp>
      <p:sp>
        <p:nvSpPr>
          <p:cNvPr id="5" name="tag-render"/>
          <p:cNvSpPr txBox="1"/>
          <p:nvPr/>
        </p:nvSpPr>
        <p:spPr>
          <a:xfrm>
            <a:off x="612648" y="612648"/>
            <a:ext cx="1371600" cy="365760"/>
          </a:xfrm>
          <a:prstGeom prst="rect">
            <a:avLst/>
          </a:prstGeom>
          <a:solidFill>
            <a:srgbClr val="EEE9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tx1"/>
                </a:solidFill>
              </a:rPr>
              <a:t>RENDER</a:t>
            </a:r>
            <a:endParaRPr lang="en-US" sz="1100" dirty="0"/>
          </a:p>
        </p:txBody>
      </p:sp>
      <p:sp>
        <p:nvSpPr>
          <p:cNvPr id="6" name="tag-real"/>
          <p:cNvSpPr txBox="1"/>
          <p:nvPr/>
        </p:nvSpPr>
        <p:spPr>
          <a:xfrm>
            <a:off x="6370168" y="612648"/>
            <a:ext cx="1097280" cy="365760"/>
          </a:xfrm>
          <a:prstGeom prst="rect">
            <a:avLst/>
          </a:prstGeom>
          <a:solidFill>
            <a:srgbClr val="1F4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REAL</a:t>
            </a:r>
            <a:endParaRPr lang="en-US" sz="1100" dirty="0"/>
          </a:p>
        </p:txBody>
      </p:sp>
      <p:sp>
        <p:nvSpPr>
          <p:cNvPr id="7" name="cliente"/>
          <p:cNvSpPr txBox="1"/>
          <p:nvPr/>
        </p:nvSpPr>
        <p:spPr>
          <a:xfrm>
            <a:off x="566928" y="4983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gradFill>
                  <a:gsLst>
                    <a:gs pos="0">
                      <a:srgbClr val="EEE9E1"/>
                    </a:gs>
                    <a:gs pos="45000">
                      <a:srgbClr val="D3E2F2"/>
                    </a:gs>
                    <a:gs pos="100000">
                      <a:srgbClr val="8CBBE8"/>
                    </a:gs>
                  </a:gsLst>
                  <a:lin ang="0" scaled="0"/>
                </a:gra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12000" dirty="0"/>
          </a:p>
        </p:txBody>
      </p:sp>
      <p:sp>
        <p:nvSpPr>
          <p:cNvPr id="8" name="frase"/>
          <p:cNvSpPr txBox="1"/>
          <p:nvPr/>
        </p:nvSpPr>
        <p:spPr>
          <a:xfrm>
            <a:off x="6675120" y="5074920"/>
            <a:ext cx="49039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 render </a:t>
            </a:r>
            <a:endParaRPr lang="en-US" sz="4800" dirty="0"/>
          </a:p>
          <a:p>
            <a:pPr algn="r" indent="0" marL="0">
              <a:buNone/>
            </a:pPr>
            <a:r>
              <a:rPr lang="en-US" sz="48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4800" dirty="0"/>
          </a:p>
        </p:txBody>
      </p:sp>
      <p:sp>
        <p:nvSpPr>
          <p:cNvPr id="9" name="evento"/>
          <p:cNvSpPr txBox="1"/>
          <p:nvPr/>
        </p:nvSpPr>
        <p:spPr>
          <a:xfrm>
            <a:off x="61264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2"/>
                </a:solidFill>
              </a:rPr>
              <a:t>AGRISHOW 2024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09 — 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972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56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Visitantes </a:t>
            </a:r>
            <a:endParaRPr lang="en-US" sz="5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56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dia.</a:t>
            </a: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657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 terceiro dia concentrou o maior fluxo. Edite os dados: clique no gráfico › Editar dados.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>
            <p:ph idx="103" type="chart" hasCustomPrompt="1"/>
          </p:nvPr>
        </p:nvGraphicFramePr>
        <p:xfrm>
          <a:off x="4937760" y="1097280"/>
          <a:ext cx="6641287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10 — COMPARATIVO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972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56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Leads: </a:t>
            </a:r>
            <a:endParaRPr lang="en-US" sz="5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56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meta × real.</a:t>
            </a: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657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Duas séries comparadas mês a mês. Mantenha no máximo três cores por gráfico.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>
            <p:ph idx="103" type="chart" hasCustomPrompt="1"/>
          </p:nvPr>
        </p:nvGraphicFramePr>
        <p:xfrm>
          <a:off x="4937760" y="1097280"/>
          <a:ext cx="6641287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/>
          <p:nvPr>
            <p:ph idx="106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11 — DISTRIBUIÇÃO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051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Investimento </a:t>
            </a:r>
            <a:pPr algn="l" indent="0" marL="0">
              <a:lnSpc>
                <a:spcPct val="86000"/>
              </a:lnSpc>
              <a:buNone/>
            </a:pPr>
            <a:r>
              <a:rPr lang="en-US" sz="60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frente.</a:t>
            </a:r>
            <a:endParaRPr lang="en-US" sz="6000" dirty="0"/>
          </a:p>
        </p:txBody>
      </p:sp>
      <p:graphicFrame>
        <p:nvGraphicFramePr>
          <p:cNvPr id="4" name="rosca" descr=""/>
          <p:cNvGraphicFramePr/>
          <p:nvPr/>
        </p:nvGraphicFramePr>
        <p:xfrm>
          <a:off x="612648" y="228600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linha" descr=""/>
          <p:cNvGraphicFramePr/>
          <p:nvPr/>
        </p:nvGraphicFramePr>
        <p:xfrm>
          <a:off x="6309360" y="2286000"/>
          <a:ext cx="5269687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/>
          <p:nvPr>
            <p:ph idx="104" type="body" hasCustomPrompt="1"/>
          </p:nvPr>
        </p:nvSpPr>
        <p:spPr>
          <a:xfrm>
            <a:off x="292608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tx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STAP · NOME DO PROJETO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32764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PP Right Grotesk Text"/>
                <a:ea typeface="PP Right Grotesk Text"/>
                <a:cs typeface="PP Right Grotesk Text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66928" y="1737360"/>
            <a:ext cx="11155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Sentimentos </a:t>
            </a:r>
            <a:endParaRPr lang="en-US" sz="14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14000" i="1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 constroem.</a:t>
            </a:r>
            <a:endParaRPr lang="en-US" sz="1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12648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contato@stap.com.br  ·  +55 11 5908-0404  ·  Rua Prestes João, 140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p 2026">
  <a:themeElements>
    <a:clrScheme name="Stap 2026">
      <a:dk1>
        <a:srgbClr val="07111F"/>
      </a:dk1>
      <a:lt1>
        <a:srgbClr val="FAF8F4"/>
      </a:lt1>
      <a:dk2>
        <a:srgbClr val="0B1C2D"/>
      </a:dk2>
      <a:lt2>
        <a:srgbClr val="EEE9E1"/>
      </a:lt2>
      <a:accent1>
        <a:srgbClr val="1F4FA8"/>
      </a:accent1>
      <a:accent2>
        <a:srgbClr val="9ED0F0"/>
      </a:accent2>
      <a:accent3>
        <a:srgbClr val="8CBBE8"/>
      </a:accent3>
      <a:accent4>
        <a:srgbClr val="D9C9AF"/>
      </a:accent4>
      <a:accent5>
        <a:srgbClr val="7A5640"/>
      </a:accent5>
      <a:accent6>
        <a:srgbClr val="9C9A94"/>
      </a:accent6>
      <a:hlink>
        <a:srgbClr val="1F4FA8"/>
      </a:hlink>
      <a:folHlink>
        <a:srgbClr val="3A4656"/>
      </a:folHlink>
    </a:clrScheme>
    <a:fontScheme name="Stap 2026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P Right Grotesk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Stap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Stap · Template de apresentação 2026</dc:title>
  <dc:subject>PptxGenJS Presentation</dc:subject>
  <dc:creator>Stap</dc:creator>
  <cp:lastModifiedBy>Stap</cp:lastModifiedBy>
  <cp:revision>1</cp:revision>
  <dcterms:created xsi:type="dcterms:W3CDTF">2026-10-28T16:26:19Z</dcterms:created>
  <dcterms:modified xsi:type="dcterms:W3CDTF">2026-10-28T16:26:19Z</dcterms:modified>
</cp:coreProperties>
</file>